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3D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01168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800" b="1">
                <a:solidFill>
                  <a:srgbClr val="FFFFFF"/>
                </a:solidFill>
                <a:latin typeface="Calibri"/>
              </a:rPr>
              <a:t>InstiGuard-Gemma</a:t>
            </a:r>
          </a:p>
          <a:p>
            <a:pPr algn="l">
              <a:spcAft>
                <a:spcPts val="600"/>
              </a:spcAft>
            </a:pPr>
            <a:r>
              <a:rPr sz="2200" b="0">
                <a:solidFill>
                  <a:srgbClr val="BFD7EA"/>
                </a:solidFill>
                <a:latin typeface="Calibri"/>
              </a:rPr>
              <a:t>A Safety Evaluation Scorecard for an Enterprise Compliance-Reporting LLM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457200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9FB8CE"/>
                </a:solidFill>
                <a:latin typeface="Calibri"/>
              </a:rPr>
              <a:t>DS6051 · Decoding Large Language Models · Gemma-4-E2B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9FB8CE"/>
                </a:solidFill>
                <a:latin typeface="Calibri"/>
              </a:rPr>
              <a:t>Evaluation, not training: is this model safe enough to deploy?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80644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Arnav Jain · Shawn Ding · Tianyin Mao · Rameez Ali · Ethan Meidinger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3D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Calibri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1">
                <a:solidFill>
                  <a:srgbClr val="0B3D63"/>
                </a:solidFill>
                <a:latin typeface="Calibri"/>
              </a:rPr>
              <a:t>An enterprise deploys a small open LLM to draft compliance reports.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444444"/>
                </a:solidFill>
                <a:latin typeface="Calibri"/>
              </a:rPr>
              <a:t>•  Those reports touch SSNs, salaries, and account numbers, and regulators expect zero fabrication.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444444"/>
                </a:solidFill>
                <a:latin typeface="Calibri"/>
              </a:rPr>
              <a:t>•  General-purpose models were never validated for this. Is one actually safe to deploy?</a:t>
            </a:r>
          </a:p>
          <a:p>
            <a:pPr algn="l">
              <a:spcAft>
                <a:spcPts val="1000"/>
              </a:spcAft>
            </a:pPr>
            <a:r>
              <a:rPr sz="2200" b="1">
                <a:solidFill>
                  <a:srgbClr val="0B3D63"/>
                </a:solidFill>
                <a:latin typeface="Calibri"/>
              </a:rPr>
              <a:t>We don't trust the model. We measure it.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444444"/>
                </a:solidFill>
                <a:latin typeface="Calibri"/>
              </a:rPr>
              <a:t>•  InstiGuard-Gemma: a safety scorecard for Gemma-4-E2B as a data-governance assistant.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3D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Calibri"/>
              </a:rPr>
              <a:t>What We Built: a 5-Metric Safety Scorecard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0">
                <a:solidFill>
                  <a:srgbClr val="444444"/>
                </a:solidFill>
                <a:latin typeface="Calibri"/>
              </a:rPr>
              <a:t>•  1  Faithfulness / hallucination: fabricated figures are a regulatory liability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444444"/>
                </a:solidFill>
                <a:latin typeface="Calibri"/>
              </a:rPr>
              <a:t>•  2  PII leakage: emitting SSNs / accounts / salaries violates GDPR / HIPAA / SOX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444444"/>
                </a:solidFill>
                <a:latin typeface="Calibri"/>
              </a:rPr>
              <a:t>•  3  Steerability: does it honor a 'never disclose' system rule under pressure?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444444"/>
                </a:solidFill>
                <a:latin typeface="Calibri"/>
              </a:rPr>
              <a:t>•  4  Cross-lingual safety gap: do guardrails survive in Spanish and low-resource Swahili?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444444"/>
                </a:solidFill>
                <a:latin typeface="Calibri"/>
              </a:rPr>
              <a:t>•  5  [BONUS] Context-saturation constraint decay: does it drop a rule as context grows?</a:t>
            </a:r>
          </a:p>
          <a:p>
            <a:pPr algn="l">
              <a:spcAft>
                <a:spcPts val="1000"/>
              </a:spcAft>
            </a:pPr>
            <a:r>
              <a:rPr sz="2200" b="1">
                <a:solidFill>
                  <a:srgbClr val="0B3D63"/>
                </a:solidFill>
                <a:latin typeface="Calibri"/>
              </a:rPr>
              <a:t>Scored on BASE vs INSTRUCTION-TUNED Gemma, by a 3-model judge panel.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3D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Calibri"/>
              </a:rPr>
              <a:t>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0">
                <a:solidFill>
                  <a:srgbClr val="444444"/>
                </a:solidFill>
                <a:latin typeface="Calibri"/>
              </a:rPr>
              <a:t>•  Generate responses from gemma-4-E2B (base) and gemma-4-E2B-it, dump to disk, free VRAM.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444444"/>
                </a:solidFill>
                <a:latin typeface="Calibri"/>
              </a:rPr>
              <a:t>•  3-judge panel: ShieldGemma-2B (harm) + Qwen2.5-7B + Mistral-7B (faithfulness, PII, steerability, refusal).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444444"/>
                </a:solidFill>
                <a:latin typeface="Calibri"/>
              </a:rPr>
              <a:t>•  Automated PII regex as a deterministic second check.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444444"/>
                </a:solidFill>
                <a:latin typeface="Calibri"/>
              </a:rPr>
              <a:t>•  Cross-lingual: evaluation set translated into Spanish and low-resource Swahili.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444444"/>
                </a:solidFill>
                <a:latin typeface="Calibri"/>
              </a:rPr>
              <a:t>•  Ran on a single 24GB GPU (Rivanna): the hardware limit becomes part of the story.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3D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Calibri"/>
              </a:rPr>
              <a:t>Result 1: Instruction Tuning Is the Safety Lever</a:t>
            </a:r>
          </a:p>
        </p:txBody>
      </p:sp>
      <p:pic>
        <p:nvPicPr>
          <p:cNvPr id="4" name="Picture 3" descr="base_vs_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6949440" cy="397110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172200"/>
            <a:ext cx="6949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444444"/>
                </a:solidFill>
                <a:latin typeface="Calibri"/>
              </a:rPr>
              <a:t>base vs instruction-tuned, English, higher = worse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7635240" y="1371600"/>
            <a:ext cx="4114800" cy="4937760"/>
          </a:xfrm>
          <a:prstGeom prst="rect">
            <a:avLst/>
          </a:prstGeom>
          <a:solidFill>
            <a:srgbClr val="F1F5F9"/>
          </a:solidFill>
          <a:ln w="12700">
            <a:solidFill>
              <a:srgbClr val="0B3D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0" y="1554480"/>
            <a:ext cx="3703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1">
                <a:solidFill>
                  <a:srgbClr val="0B3D63"/>
                </a:solidFill>
                <a:latin typeface="Calibri"/>
              </a:rPr>
              <a:t>Takeaway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444444"/>
                </a:solidFill>
                <a:latin typeface="Calibri"/>
              </a:rPr>
              <a:t>•  Steerability violations: 0.71 → 0.10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444444"/>
                </a:solidFill>
                <a:latin typeface="Calibri"/>
              </a:rPr>
              <a:t>•  PII leakage: 0.76 → 0.40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444444"/>
                </a:solidFill>
                <a:latin typeface="Calibri"/>
              </a:rPr>
              <a:t>•  But -it STILL leaks PII 40% of the time.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444444"/>
                </a:solidFill>
                <a:latin typeface="Calibri"/>
              </a:rPr>
              <a:t>•  Told 'never disclose an SSN,' the base model drafts an IRS notice with the full SSN.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444444"/>
                </a:solidFill>
                <a:latin typeface="Calibri"/>
              </a:rPr>
              <a:t>•  Necessary, but nowhere near sufficient to deploy.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3D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Calibri"/>
              </a:rPr>
              <a:t>Result 2: Cross-Lingual Safety Gap</a:t>
            </a:r>
          </a:p>
        </p:txBody>
      </p:sp>
      <p:pic>
        <p:nvPicPr>
          <p:cNvPr id="4" name="Picture 3" descr="crosslingual_hallucin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6949440" cy="397110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172200"/>
            <a:ext cx="6949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444444"/>
                </a:solidFill>
                <a:latin typeface="Calibri"/>
              </a:rPr>
              <a:t>hallucination rate by language</a:t>
            </a:r>
          </a:p>
        </p:txBody>
      </p:sp>
      <p:sp>
        <p:nvSpPr>
          <p:cNvPr id="6" name="Rectangle 5"/>
          <p:cNvSpPr/>
          <p:nvPr/>
        </p:nvSpPr>
        <p:spPr>
          <a:xfrm>
            <a:off x="7635240" y="1371600"/>
            <a:ext cx="4114800" cy="4937760"/>
          </a:xfrm>
          <a:prstGeom prst="rect">
            <a:avLst/>
          </a:prstGeom>
          <a:solidFill>
            <a:srgbClr val="F1F5F9"/>
          </a:solidFill>
          <a:ln w="12700">
            <a:solidFill>
              <a:srgbClr val="0B3D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0" y="1554480"/>
            <a:ext cx="3703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1">
                <a:solidFill>
                  <a:srgbClr val="0B3D63"/>
                </a:solidFill>
                <a:latin typeface="Calibri"/>
              </a:rPr>
              <a:t>Takeaway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444444"/>
                </a:solidFill>
                <a:latin typeface="Calibri"/>
              </a:rPr>
              <a:t>•  Hallucination worsens toward low-resource Swahili (EN 0.21 → SW 0.27).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444444"/>
                </a:solidFill>
                <a:latin typeface="Calibri"/>
              </a:rPr>
              <a:t>•  The resource gradient the literature predicts.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444444"/>
                </a:solidFill>
                <a:latin typeface="Calibri"/>
              </a:rPr>
              <a:t>•  But refusal of harmful requests did NOT collapse across languages (~0.50 everywhere).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444444"/>
                </a:solidFill>
                <a:latin typeface="Calibri"/>
              </a:rPr>
              <a:t>•  An honest null result: we report it rather than overclaim.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3D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Calibri"/>
              </a:rPr>
              <a:t>Key Insight: The Judges Disagree</a:t>
            </a:r>
          </a:p>
        </p:txBody>
      </p:sp>
      <p:pic>
        <p:nvPicPr>
          <p:cNvPr id="4" name="Picture 3" descr="judge_agree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6949440" cy="397110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172200"/>
            <a:ext cx="6949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444444"/>
                </a:solidFill>
                <a:latin typeface="Calibri"/>
              </a:rPr>
              <a:t>mean P(fail) per judge: LLM-as-judge is a noisy instrument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635240" y="1371600"/>
            <a:ext cx="4114800" cy="4937760"/>
          </a:xfrm>
          <a:prstGeom prst="rect">
            <a:avLst/>
          </a:prstGeom>
          <a:solidFill>
            <a:srgbClr val="F1F5F9"/>
          </a:solidFill>
          <a:ln w="12700">
            <a:solidFill>
              <a:srgbClr val="0B3D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0" y="1554480"/>
            <a:ext cx="3703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1">
                <a:solidFill>
                  <a:srgbClr val="0B3D63"/>
                </a:solidFill>
                <a:latin typeface="Calibri"/>
              </a:rPr>
              <a:t>Takeaway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444444"/>
                </a:solidFill>
                <a:latin typeface="Calibri"/>
              </a:rPr>
              <a:t>•  Qwen vs Mistral differ by 0.33 on hallucination.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444444"/>
                </a:solidFill>
                <a:latin typeface="Calibri"/>
              </a:rPr>
              <a:t>•  They reach OPPOSITE conclusions: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444444"/>
                </a:solidFill>
                <a:latin typeface="Calibri"/>
              </a:rPr>
              <a:t>•    Qwen: instruction tuning makes hallucination worse (0.15 → 0.25)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444444"/>
                </a:solidFill>
                <a:latin typeface="Calibri"/>
              </a:rPr>
              <a:t>•    Mistral: it makes it better (0.41 → 0.17)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444444"/>
                </a:solidFill>
                <a:latin typeface="Calibri"/>
              </a:rPr>
              <a:t>•  A single-judge scorecard would have been confidently wrong.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3D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Calibri"/>
              </a:rPr>
              <a:t>Bonus Metric + Limitations</a:t>
            </a:r>
          </a:p>
        </p:txBody>
      </p:sp>
      <p:pic>
        <p:nvPicPr>
          <p:cNvPr id="4" name="Picture 3" descr="ctx_dec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6949440" cy="397110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172200"/>
            <a:ext cx="6949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444444"/>
                </a:solidFill>
                <a:latin typeface="Calibri"/>
              </a:rPr>
              <a:t>constraint compliance vs context length (0-token point dropped)</a:t>
            </a:r>
          </a:p>
        </p:txBody>
      </p:sp>
      <p:sp>
        <p:nvSpPr>
          <p:cNvPr id="6" name="Rectangle 5"/>
          <p:cNvSpPr/>
          <p:nvPr/>
        </p:nvSpPr>
        <p:spPr>
          <a:xfrm>
            <a:off x="7635240" y="1371600"/>
            <a:ext cx="4114800" cy="4937760"/>
          </a:xfrm>
          <a:prstGeom prst="rect">
            <a:avLst/>
          </a:prstGeom>
          <a:solidFill>
            <a:srgbClr val="F1F5F9"/>
          </a:solidFill>
          <a:ln w="12700">
            <a:solidFill>
              <a:srgbClr val="0B3D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0" y="1554480"/>
            <a:ext cx="3703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1">
                <a:solidFill>
                  <a:srgbClr val="0B3D63"/>
                </a:solidFill>
                <a:latin typeface="Calibri"/>
              </a:rPr>
              <a:t>Takeaway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444444"/>
                </a:solidFill>
                <a:latin typeface="Calibri"/>
              </a:rPr>
              <a:t>•  No constraint decay observed up to 19k tokens.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444444"/>
                </a:solidFill>
                <a:latin typeface="Calibri"/>
              </a:rPr>
              <a:t>•  At ~40k tokens the 24GB GPU OOMs: a hardware ceiling, not proof of no decay.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444444"/>
                </a:solidFill>
                <a:latin typeface="Calibri"/>
              </a:rPr>
              <a:t>•  Judges are LLMs with the same failure modes.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444444"/>
                </a:solidFill>
                <a:latin typeface="Calibri"/>
              </a:rPr>
              <a:t>•  Regex catches known PII formats only.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444444"/>
                </a:solidFill>
                <a:latin typeface="Calibri"/>
              </a:rPr>
              <a:t>•  Small probe samples; numbers are relative signals, not ground truth.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3D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Calibri"/>
              </a:rPr>
              <a:t>Verdict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1">
                <a:solidFill>
                  <a:srgbClr val="0B3D63"/>
                </a:solidFill>
                <a:latin typeface="Calibri"/>
              </a:rPr>
              <a:t>Gemma-4-E2B-it is NOT safe to deploy as a compliance assistant as-is.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444444"/>
                </a:solidFill>
                <a:latin typeface="Calibri"/>
              </a:rPr>
              <a:t>•  It leaks PII ~40% of the time and hallucinates more in low-resource languages.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444444"/>
                </a:solidFill>
                <a:latin typeface="Calibri"/>
              </a:rPr>
              <a:t>•  Deployment would require an external PII-redaction filter + human-in-the-loop for non-English.</a:t>
            </a:r>
          </a:p>
          <a:p>
            <a:pPr algn="l">
              <a:spcAft>
                <a:spcPts val="1000"/>
              </a:spcAft>
            </a:pPr>
            <a:r>
              <a:rPr sz="2200" b="1">
                <a:solidFill>
                  <a:srgbClr val="0B3D63"/>
                </a:solidFill>
                <a:latin typeface="Calibri"/>
              </a:rPr>
              <a:t>The deeper lesson: a safety scorecard is only as trustworthy as its judges.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